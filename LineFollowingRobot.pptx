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61872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83664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05456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27248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49040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92624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14416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6208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79792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23376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45168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966960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588752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10544" y="2743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61872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83664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05456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27248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749040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70832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92624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14416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36208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0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79792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01583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723376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345168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966960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588752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210544" y="132588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261872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883664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505456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127248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749040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370832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992624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614416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36208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58000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479792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101583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723376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345168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966960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588752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210544" y="237743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261872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883664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505456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127248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749040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370832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992624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614416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236208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858000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479792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101583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23376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345168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966960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588752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210544" y="342899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40080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261872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883664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505456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127248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749040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370832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92624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614416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236208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858000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479792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101583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723376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345168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966960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0588752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210544" y="4480559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40080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261872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883664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505456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127248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749040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370832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992624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614416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236208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858000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479792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101583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723376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345168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966960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0588752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1210544" y="5532120"/>
            <a:ext cx="5486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14400" y="128016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200" b="1" i="0">
                <a:solidFill>
                  <a:srgbClr val="00B4D8"/>
                </a:solidFill>
                <a:latin typeface="Calibri"/>
              </a:rPr>
              <a:t>LINE FOLLOWING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4400" y="233172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ROBOT CAR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" y="338328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9EC8E0"/>
                </a:solidFill>
                <a:latin typeface="Calibri"/>
              </a:rPr>
              <a:t>Autonomous Navigation  ·  Bluetooth Remote Control  ·  Live Camera Feed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0" y="3886200"/>
            <a:ext cx="41148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14400" y="406908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Ahror Nosirov   ·   Jamshid Vakhobov   ·   Islomov Jaxongir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AA8C8"/>
                </a:solidFill>
                <a:latin typeface="Calibri"/>
              </a:rPr>
              <a:t>Arduino SMARS Platform  | 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7200" y="61722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Line Following Robot Car  — 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  <a:latin typeface="Calibri"/>
              </a:rPr>
              <a:t>What we built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50" b="1">
                <a:solidFill>
                  <a:srgbClr val="027796"/>
                </a:solidFill>
                <a:latin typeface="Calibri"/>
              </a:rPr>
              <a:t>What is it?</a:t>
            </a:r>
          </a:p>
          <a:p>
            <a:pPr algn="l"/>
            <a:r>
              <a:rPr sz="1450" b="0">
                <a:solidFill>
                  <a:srgbClr val="1A233A"/>
                </a:solidFill>
                <a:latin typeface="Calibri"/>
              </a:rPr>
              <a:t>A 3D-printed SMARS robot car that can autonomously follow a black line
on a white surface, or be driven manually from a smartphone.</a:t>
            </a:r>
          </a:p>
          <a:p>
            <a:pPr algn="l"/>
            <a:endParaRPr sz="1450" b="0">
              <a:solidFill>
                <a:srgbClr val="1A233A"/>
              </a:solidFill>
              <a:latin typeface="Calibri"/>
            </a:endParaRPr>
          </a:p>
          <a:p>
            <a:pPr algn="l"/>
            <a:r>
              <a:rPr sz="1450" b="1">
                <a:solidFill>
                  <a:srgbClr val="027796"/>
                </a:solidFill>
                <a:latin typeface="Calibri"/>
              </a:rPr>
              <a:t>Why we built it?</a:t>
            </a:r>
          </a:p>
          <a:p>
            <a:pPr algn="l"/>
            <a:r>
              <a:rPr sz="1450" b="0">
                <a:solidFill>
                  <a:srgbClr val="1A233A"/>
                </a:solidFill>
                <a:latin typeface="Calibri"/>
              </a:rPr>
              <a:t>To explore embedded systems, sensor integration, wireless
communication, and real-time control in a single hands-on project.</a:t>
            </a:r>
          </a:p>
          <a:p>
            <a:pPr algn="l"/>
            <a:endParaRPr sz="1450" b="0">
              <a:solidFill>
                <a:srgbClr val="1A233A"/>
              </a:solidFill>
              <a:latin typeface="Calibri"/>
            </a:endParaRPr>
          </a:p>
          <a:p>
            <a:pPr algn="l"/>
            <a:r>
              <a:rPr sz="1450" b="1">
                <a:solidFill>
                  <a:srgbClr val="027796"/>
                </a:solidFill>
                <a:latin typeface="Calibri"/>
              </a:rPr>
              <a:t>What makes it special?</a:t>
            </a:r>
          </a:p>
          <a:p>
            <a:pPr algn="l"/>
            <a:r>
              <a:rPr sz="1450" b="0">
                <a:solidFill>
                  <a:srgbClr val="1A233A"/>
                </a:solidFill>
                <a:latin typeface="Calibri"/>
              </a:rPr>
              <a:t>Three modes in one compact robot: fully autonomous line tracking,
bluetooth remote control, and live ESP32-CAM video streaming.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417320"/>
            <a:ext cx="5029200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158191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[AUTO]  AUTO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039112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Searches for &amp; follows the line autonomously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3108960"/>
            <a:ext cx="5029200" cy="1463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327355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[APP]  REMOTE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730752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Bluetooth control via mobile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4800600"/>
            <a:ext cx="5029200" cy="1463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496519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[CAM]  LIVE 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5422392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D1B2A"/>
                </a:solidFill>
                <a:latin typeface="Calibri"/>
              </a:rPr>
              <a:t>ESP32-CAM streams real-time video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Components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C8E8F5"/>
                </a:solidFill>
                <a:latin typeface="Calibri"/>
              </a:rPr>
              <a:t>Everything that makes the robot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5577840" cy="118872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6459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37160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ARDUINO 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75564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C8DCF0"/>
                </a:solidFill>
                <a:latin typeface="Calibri"/>
              </a:rPr>
              <a:t>The brain of the robot — runs all control logic and coordinates sensors, motors, and communication.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06040"/>
            <a:ext cx="5577840" cy="118872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2606040"/>
            <a:ext cx="16459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6974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2× DC MOTORS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8152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C8DCF0"/>
                </a:solidFill>
                <a:latin typeface="Calibri"/>
              </a:rPr>
              <a:t>Drive the left and right wheels for forward, backward, and turning motion.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31920"/>
            <a:ext cx="5577840" cy="118872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3931920"/>
            <a:ext cx="16459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402336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MOTOR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40740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C8DCF0"/>
                </a:solidFill>
                <a:latin typeface="Calibri"/>
              </a:rPr>
              <a:t>L298N bridge driver — translates Arduino PWM signals into motor power.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257800"/>
            <a:ext cx="5577840" cy="118872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5257800"/>
            <a:ext cx="16459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53492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3× IR SENSORS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73328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C8DCF0"/>
                </a:solidFill>
                <a:latin typeface="Calibri"/>
              </a:rPr>
              <a:t>HW-511 infrared modules detect black/white contrast to locate the line (left, center, right).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280160"/>
            <a:ext cx="5577840" cy="118872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1280160"/>
            <a:ext cx="16459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56832" y="137160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HC-06 BLUETOOTH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175564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C8DCF0"/>
                </a:solidFill>
                <a:latin typeface="Calibri"/>
              </a:rPr>
              <a:t>Receives commands from the mobile app for remote control mode.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06040"/>
            <a:ext cx="5577840" cy="118872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2606040"/>
            <a:ext cx="16459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56832" y="26974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ESP32-CAM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308152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C8DCF0"/>
                </a:solidFill>
                <a:latin typeface="Calibri"/>
              </a:rPr>
              <a:t>Wi-Fi camera module — streams live first-person video to the mobile device.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931920"/>
            <a:ext cx="5577840" cy="118872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16459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56832" y="402336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9V KRONA BATTERY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440740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C8DCF0"/>
                </a:solidFill>
                <a:latin typeface="Calibri"/>
              </a:rPr>
              <a:t>Portable power supply for the entire system.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257800"/>
            <a:ext cx="5577840" cy="118872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5257800"/>
            <a:ext cx="16459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56832" y="53492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SMARS CHASSIS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573328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C8DCF0"/>
                </a:solidFill>
                <a:latin typeface="Calibri"/>
              </a:rPr>
              <a:t>3D-printed modular chassis with tank-track Mecanum-style wheels.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Chassis &amp; Physical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  <a:latin typeface="Calibri"/>
              </a:rPr>
              <a:t>SMARS — Screwless Modular Assemblable Robotic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760720" cy="53949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50" b="1">
                <a:solidFill>
                  <a:srgbClr val="027796"/>
                </a:solidFill>
                <a:latin typeface="Calibri"/>
              </a:rPr>
              <a:t>3D Printed SMARS Chassis</a:t>
            </a:r>
          </a:p>
          <a:p>
            <a:pPr algn="l"/>
            <a:r>
              <a:rPr sz="1350" b="0">
                <a:solidFill>
                  <a:srgbClr val="1A233A"/>
                </a:solidFill>
                <a:latin typeface="Calibri"/>
              </a:rPr>
              <a:t>Open-source, fully 3D-printable robot platform designed for modularity.</a:t>
            </a:r>
          </a:p>
          <a:p>
            <a:pPr algn="l"/>
            <a:endParaRPr sz="1350" b="0">
              <a:solidFill>
                <a:srgbClr val="1A233A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27796"/>
                </a:solidFill>
                <a:latin typeface="Calibri"/>
              </a:rPr>
              <a:t>Colorful Multi-Part Build</a:t>
            </a:r>
          </a:p>
          <a:p>
            <a:pPr algn="l"/>
            <a:r>
              <a:rPr sz="1350" b="0">
                <a:solidFill>
                  <a:srgbClr val="1A233A"/>
                </a:solidFill>
                <a:latin typeface="Calibri"/>
              </a:rPr>
              <a:t>Printed in multiple colours (blue, green, yellow, orange, white) using FDM printing.</a:t>
            </a:r>
          </a:p>
          <a:p>
            <a:pPr algn="l"/>
            <a:endParaRPr sz="1350" b="0">
              <a:solidFill>
                <a:srgbClr val="1A233A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27796"/>
                </a:solidFill>
                <a:latin typeface="Calibri"/>
              </a:rPr>
              <a:t>Tank-Track Wheel System</a:t>
            </a:r>
          </a:p>
          <a:p>
            <a:pPr algn="l"/>
            <a:r>
              <a:rPr sz="1350" b="0">
                <a:solidFill>
                  <a:srgbClr val="1A233A"/>
                </a:solidFill>
                <a:latin typeface="Calibri"/>
              </a:rPr>
              <a:t>Custom interlocking track segments provide stable traction on flat surfaces.</a:t>
            </a:r>
          </a:p>
          <a:p>
            <a:pPr algn="l"/>
            <a:endParaRPr sz="1350" b="0">
              <a:solidFill>
                <a:srgbClr val="1A233A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27796"/>
                </a:solidFill>
                <a:latin typeface="Calibri"/>
              </a:rPr>
              <a:t>Sensor Mount at Front</a:t>
            </a:r>
          </a:p>
          <a:p>
            <a:pPr algn="l"/>
            <a:r>
              <a:rPr sz="1350" b="0">
                <a:solidFill>
                  <a:srgbClr val="1A233A"/>
                </a:solidFill>
                <a:latin typeface="Calibri"/>
              </a:rPr>
              <a:t>Three IR sensors mounted in a row at the front-bottom for accurate line detection.</a:t>
            </a:r>
          </a:p>
          <a:p>
            <a:pPr algn="l"/>
            <a:endParaRPr sz="1350" b="0">
              <a:solidFill>
                <a:srgbClr val="1A233A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27796"/>
                </a:solidFill>
                <a:latin typeface="Calibri"/>
              </a:rPr>
              <a:t>Compact Stacked Layout</a:t>
            </a:r>
          </a:p>
          <a:p>
            <a:pPr algn="l"/>
            <a:r>
              <a:rPr sz="1350" b="0">
                <a:solidFill>
                  <a:srgbClr val="1A233A"/>
                </a:solidFill>
                <a:latin typeface="Calibri"/>
              </a:rPr>
              <a:t>Motor driver, Arduino, and Bluetooth module stacked vertically inside the chassis to save space.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43000"/>
            <a:ext cx="5394960" cy="5212080"/>
          </a:xfrm>
          <a:prstGeom prst="rect">
            <a:avLst/>
          </a:prstGeom>
          <a:solidFill>
            <a:srgbClr val="E2ECF5"/>
          </a:solidFill>
          <a:ln w="19050">
            <a:solidFill>
              <a:srgbClr val="02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10528" y="1252728"/>
            <a:ext cx="5175504" cy="4992624"/>
          </a:xfrm>
          <a:prstGeom prst="rect">
            <a:avLst/>
          </a:prstGeom>
          <a:solidFill>
            <a:srgbClr val="D0E4F2"/>
          </a:solidFill>
          <a:ln w="6350">
            <a:solidFill>
              <a:srgbClr val="02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706624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27796"/>
                </a:solidFill>
                <a:latin typeface="Calibri"/>
              </a:rPr>
              <a:t>INSERT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53281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4A5E78"/>
                </a:solidFill>
                <a:latin typeface="Calibri"/>
              </a:rPr>
              <a:t>[Insert side/front chassis photo]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1CC9EC-4175-6324-6EF3-F92C4BC86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7" y="1210944"/>
            <a:ext cx="5221098" cy="5037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Electronics &amp; Wiring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C8E8F5"/>
                </a:solidFill>
                <a:latin typeface="Calibri"/>
              </a:rPr>
              <a:t>How all the components connect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109728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16736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0B4D8"/>
                </a:solidFill>
                <a:latin typeface="Calibri"/>
              </a:rPr>
              <a:t>IR Sensors  →  Arduino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B8CCE0"/>
                </a:solidFill>
                <a:latin typeface="Calibri"/>
              </a:rPr>
              <a:t>3 HW-511 IR modules → Digital pins D2, D3, D4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76272"/>
            <a:ext cx="109728" cy="6858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21284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FA500"/>
                </a:solidFill>
                <a:latin typeface="Calibri"/>
              </a:rPr>
              <a:t>Arduino  →  Motor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4203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B8CCE0"/>
                </a:solidFill>
                <a:latin typeface="Calibri"/>
              </a:rPr>
              <a:t>PWM pins → L298N IN1/IN2/IN3/IN4 + ENA/ENB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72384"/>
            <a:ext cx="109728" cy="685800"/>
          </a:xfrm>
          <a:prstGeom prst="rect">
            <a:avLst/>
          </a:prstGeom>
          <a:solidFill>
            <a:srgbClr val="06B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10896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6B64D"/>
                </a:solidFill>
                <a:latin typeface="Calibri"/>
              </a:rPr>
              <a:t>Motor Driver  →  Motors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3814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B8CCE0"/>
                </a:solidFill>
                <a:latin typeface="Calibri"/>
              </a:rPr>
              <a:t>OUT1/OUT2 → Left motor  |  OUT3/OUT4 → Right motor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968496"/>
            <a:ext cx="109728" cy="685800"/>
          </a:xfrm>
          <a:prstGeom prst="rect">
            <a:avLst/>
          </a:prstGeom>
          <a:solidFill>
            <a:srgbClr val="E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005072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E060FF"/>
                </a:solidFill>
                <a:latin typeface="Calibri"/>
              </a:rPr>
              <a:t>HC-06  →  Arduino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3425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B8CCE0"/>
                </a:solidFill>
                <a:latin typeface="Calibri"/>
              </a:rPr>
              <a:t>TX → RX (pin 0)  |  RX → TX (pin 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864608"/>
            <a:ext cx="109728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901184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F6B6B"/>
                </a:solidFill>
                <a:latin typeface="Calibri"/>
              </a:rPr>
              <a:t>ESP32-CAM  → 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303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B8CCE0"/>
                </a:solidFill>
                <a:latin typeface="Calibri"/>
              </a:rPr>
              <a:t>Independent Wi-Fi module powered from 5V rail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760720"/>
            <a:ext cx="109728" cy="685800"/>
          </a:xfrm>
          <a:prstGeom prst="rect">
            <a:avLst/>
          </a:prstGeom>
          <a:solidFill>
            <a:srgbClr val="F5D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5797296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5DD42"/>
                </a:solidFill>
                <a:latin typeface="Calibri"/>
              </a:rPr>
              <a:t>9V Battery  →  Motor Driver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1264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B8CCE0"/>
                </a:solidFill>
                <a:latin typeface="Calibri"/>
              </a:rPr>
              <a:t>VIN on L298N  |  5V regulator output → Arduino &amp; logic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143000"/>
            <a:ext cx="5394960" cy="5212080"/>
          </a:xfrm>
          <a:prstGeom prst="rect">
            <a:avLst/>
          </a:prstGeom>
          <a:solidFill>
            <a:srgbClr val="E2ECF5"/>
          </a:solidFill>
          <a:ln w="19050">
            <a:solidFill>
              <a:srgbClr val="02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10528" y="1252728"/>
            <a:ext cx="5175504" cy="4992624"/>
          </a:xfrm>
          <a:prstGeom prst="rect">
            <a:avLst/>
          </a:prstGeom>
          <a:solidFill>
            <a:srgbClr val="D0E4F2"/>
          </a:solidFill>
          <a:ln w="6350">
            <a:solidFill>
              <a:srgbClr val="02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2706624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27796"/>
                </a:solidFill>
                <a:latin typeface="Calibri"/>
              </a:rPr>
              <a:t>INSERT PHOTO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53281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4A5E78"/>
                </a:solidFill>
                <a:latin typeface="Calibri"/>
              </a:rPr>
              <a:t>[Insert wiring / top-view photo]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8AA93D1-E9D4-8B6B-8276-4F5616846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225296"/>
            <a:ext cx="5175504" cy="5028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How Line Following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  <a:latin typeface="Calibri"/>
              </a:rPr>
              <a:t>IR sensor logic &amp; decision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338560" cy="21945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27796"/>
                </a:solidFill>
                <a:latin typeface="Calibri"/>
              </a:rPr>
              <a:t>IR SENSOR STATES &amp; MOTOR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027796"/>
                </a:solidFill>
                <a:latin typeface="Calibri"/>
              </a:rPr>
              <a:t>LEFT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7830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027796"/>
                </a:solidFill>
                <a:latin typeface="Calibri"/>
              </a:rPr>
              <a:t>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830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027796"/>
                </a:solidFill>
                <a:latin typeface="Calibri"/>
              </a:rPr>
              <a:t>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78308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→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⚫ sees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574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⚫ sees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0574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⚫ sees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0574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→ Go FORWARD (on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317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⚫ sees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3317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⚪ off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3317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⚪ off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3317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→ Turn LEFT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⚪ off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60604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⚪ off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60604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⚫ sees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6060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→ Turn 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803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⚪ off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8803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⚫ sees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8803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⚪ off 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88036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→ Go FORWARD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1546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⚪ off 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1546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⚪ off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1546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⚪ off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15468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→ SEARCH (slow spin)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33A"/>
                </a:solidFill>
                <a:latin typeface="Calibri"/>
              </a:rPr>
              <a:t>Algorithm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6908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  <a:latin typeface="Calibri"/>
              </a:rPr>
              <a:t>1.  Read all 3 IR sensor values (HIGH = white, LOW = black line)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81144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  <a:latin typeface="Calibri"/>
              </a:rPr>
              <a:t>2.  Evaluate combination against look-up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093208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  <a:latin typeface="Calibri"/>
              </a:rPr>
              <a:t>3.  Send PWM speed values to motor driver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605272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  <a:latin typeface="Calibri"/>
              </a:rPr>
              <a:t>4.  Loop every ~10 ms for smooth real-time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17336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  <a:latin typeface="Calibri"/>
              </a:rPr>
              <a:t>5.  If all sensors lose line → slow spin to search &amp; re-acquire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3657600"/>
            <a:ext cx="4937760" cy="274320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3749039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027796"/>
                </a:solidFill>
                <a:latin typeface="Calibri"/>
              </a:rPr>
              <a:t>Sensor Layout (Front View)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4251960"/>
            <a:ext cx="118872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05472" y="4297680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LEFT
Sensor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4251960"/>
            <a:ext cx="118872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59952" y="4297680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CENTER
Sensor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80" y="4251960"/>
            <a:ext cx="118872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14432" y="4297680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RIGHT
Sensor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5212080"/>
            <a:ext cx="2011680" cy="16459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40880" y="54406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4A5E78"/>
                </a:solidFill>
                <a:latin typeface="Calibri"/>
              </a:rPr>
              <a:t>← black line on white surface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C8E8F5"/>
                </a:solidFill>
                <a:latin typeface="Calibri"/>
              </a:rPr>
              <a:t>Two modes, one robot — switchable from the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0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[AUTO]  AUTO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Activated by tapping AUTO in the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15184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Robot reads 3 IR sensors continuously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62656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Steers left/right to stay on the black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05072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If line is lost, enters search mode (slow rotation) until line is re-found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52544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700016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Speed is adjustable via the app slider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47488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5029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Fully hands-free once activated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280160"/>
            <a:ext cx="5486400" cy="5029200"/>
          </a:xfrm>
          <a:prstGeom prst="rect">
            <a:avLst/>
          </a:prstGeom>
          <a:solidFill>
            <a:srgbClr val="0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3258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[APP]  REMOTE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20240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Activated by tapping MANUAL in the mobile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67712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615184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HC-06 Bluetooth module receives commands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62656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310128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Commands: Forward, Backward, Left, Right, 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57600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005072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App sends single-character codes (F, B, L, R, 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52544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700016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Arduino parses command &amp; drives motors accordingly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047488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5394960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8E0F0"/>
                </a:solidFill>
                <a:latin typeface="Calibri"/>
              </a:rPr>
              <a:t>• IR sensors are ignored in this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5661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Mobile App &amp; Bluetooth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  <a:latin typeface="Calibri"/>
              </a:rPr>
              <a:t>HC-06 module + Android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400800" cy="53949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50" b="1">
                <a:solidFill>
                  <a:srgbClr val="027796"/>
                </a:solidFill>
                <a:latin typeface="Calibri"/>
              </a:rPr>
              <a:t>App Interface</a:t>
            </a:r>
          </a:p>
          <a:p>
            <a:pPr algn="l"/>
            <a:r>
              <a:rPr sz="1350" b="0">
                <a:solidFill>
                  <a:srgbClr val="1A233A"/>
                </a:solidFill>
                <a:latin typeface="Calibri"/>
              </a:rPr>
              <a:t>Custom Android app with directional buttons, mode switch (Auto/Manual), speed slider, and live camera view.</a:t>
            </a:r>
          </a:p>
          <a:p>
            <a:pPr algn="l"/>
            <a:endParaRPr sz="1350" b="0">
              <a:solidFill>
                <a:srgbClr val="1A233A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27796"/>
                </a:solidFill>
                <a:latin typeface="Calibri"/>
              </a:rPr>
              <a:t>Bluetooth Connection (HC-06)</a:t>
            </a:r>
          </a:p>
          <a:p>
            <a:pPr algn="l"/>
            <a:r>
              <a:rPr sz="1350" b="0">
                <a:solidFill>
                  <a:srgbClr val="1A233A"/>
                </a:solidFill>
                <a:latin typeface="Calibri"/>
              </a:rPr>
              <a:t>HC-06 is a classic Bluetooth 2.0 serial module. Pairs with smartphone like any Bluetooth device. Range: ~10 metres.</a:t>
            </a:r>
          </a:p>
          <a:p>
            <a:pPr algn="l"/>
            <a:endParaRPr sz="1350" b="0">
              <a:solidFill>
                <a:srgbClr val="1A233A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27796"/>
                </a:solidFill>
                <a:latin typeface="Calibri"/>
              </a:rPr>
              <a:t>Command Protocol</a:t>
            </a:r>
          </a:p>
          <a:p>
            <a:pPr algn="l"/>
            <a:r>
              <a:rPr sz="1350" b="0">
                <a:solidFill>
                  <a:srgbClr val="1A233A"/>
                </a:solidFill>
                <a:latin typeface="Calibri"/>
              </a:rPr>
              <a:t>Simple single-byte serial protocol:</a:t>
            </a:r>
          </a:p>
          <a:p>
            <a:pPr algn="l"/>
            <a:r>
              <a:rPr sz="1350" b="0">
                <a:solidFill>
                  <a:srgbClr val="4A5E78"/>
                </a:solidFill>
                <a:latin typeface="Calibri"/>
              </a:rPr>
              <a:t>  F = Forward    B = Backward    L = Turn Left</a:t>
            </a:r>
          </a:p>
          <a:p>
            <a:pPr algn="l"/>
            <a:r>
              <a:rPr sz="1350" b="0">
                <a:solidFill>
                  <a:srgbClr val="4A5E78"/>
                </a:solidFill>
                <a:latin typeface="Calibri"/>
              </a:rPr>
              <a:t>  R = Turn Right    S = Stop    A = Auto mode</a:t>
            </a:r>
          </a:p>
          <a:p>
            <a:pPr algn="l"/>
            <a:endParaRPr sz="1350" b="0">
              <a:solidFill>
                <a:srgbClr val="4A5E78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27796"/>
                </a:solidFill>
                <a:latin typeface="Calibri"/>
              </a:rPr>
              <a:t>Response Time</a:t>
            </a:r>
          </a:p>
          <a:p>
            <a:pPr algn="l"/>
            <a:r>
              <a:rPr sz="1350" b="0">
                <a:solidFill>
                  <a:srgbClr val="1A233A"/>
                </a:solidFill>
                <a:latin typeface="Calibri"/>
              </a:rPr>
              <a:t>Near real-time response (~50–100 ms latency) — fast enough for smooth manual driving.</a:t>
            </a:r>
          </a:p>
          <a:p>
            <a:pPr algn="l"/>
            <a:endParaRPr sz="1350" b="0">
              <a:solidFill>
                <a:srgbClr val="1A233A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27796"/>
                </a:solidFill>
                <a:latin typeface="Calibri"/>
              </a:rPr>
              <a:t>Safety</a:t>
            </a:r>
          </a:p>
          <a:p>
            <a:pPr algn="l"/>
            <a:r>
              <a:rPr sz="1350" b="0">
                <a:solidFill>
                  <a:srgbClr val="1A233A"/>
                </a:solidFill>
                <a:latin typeface="Calibri"/>
              </a:rPr>
              <a:t>Robot stops automatically if Bluetooth connection is lost.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188720"/>
            <a:ext cx="4663440" cy="53035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0" y="1188720"/>
            <a:ext cx="46634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12344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App Layout (Schematic)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011680"/>
            <a:ext cx="1371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2103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D1B2A"/>
                </a:solidFill>
                <a:latin typeface="Calibri"/>
              </a:rPr>
              <a:t>^  FORWARD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743200"/>
            <a:ext cx="1371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28346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D1B2A"/>
                </a:solidFill>
                <a:latin typeface="Calibri"/>
              </a:rPr>
              <a:t>&lt;  LEFT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2743200"/>
            <a:ext cx="1371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0" y="28346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D1B2A"/>
                </a:solidFill>
                <a:latin typeface="Calibri"/>
              </a:rPr>
              <a:t>RIGHT 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474720"/>
            <a:ext cx="1371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35661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D1B2A"/>
                </a:solidFill>
                <a:latin typeface="Calibri"/>
              </a:rPr>
              <a:t>v  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743200"/>
            <a:ext cx="1371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28346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D1B2A"/>
                </a:solidFill>
                <a:latin typeface="Calibri"/>
              </a:rPr>
              <a:t>[] STOP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251960"/>
            <a:ext cx="4297680" cy="45720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42976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AUTO MODE  *  MANUAL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4846320"/>
            <a:ext cx="4297680" cy="36576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48920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SPEED:  =======O  80%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5349240"/>
            <a:ext cx="4297680" cy="9144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544068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70A0C0"/>
                </a:solidFill>
                <a:latin typeface="Calibri"/>
              </a:rPr>
              <a:t>[CAM]  Live Camera Feed
(ESP32-CAM stream)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ESP32-CAM Live Video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C8E8F5"/>
                </a:solidFill>
                <a:latin typeface="Calibri"/>
              </a:rPr>
              <a:t>First-person real-time streaming from the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53035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50" b="1">
                <a:solidFill>
                  <a:srgbClr val="00B4D8"/>
                </a:solidFill>
                <a:latin typeface="Calibri"/>
              </a:rPr>
              <a:t>Module: ESP32-CAM</a:t>
            </a:r>
          </a:p>
          <a:p>
            <a:pPr algn="l"/>
            <a:r>
              <a:rPr sz="1350" b="0">
                <a:solidFill>
                  <a:srgbClr val="C0D8EE"/>
                </a:solidFill>
                <a:latin typeface="Calibri"/>
              </a:rPr>
              <a:t>Compact Wi-Fi + camera module with OV2640 image sensor. Operates independently from the Arduino.</a:t>
            </a:r>
          </a:p>
          <a:p>
            <a:pPr algn="l"/>
            <a:endParaRPr sz="1350" b="0">
              <a:solidFill>
                <a:srgbClr val="C0D8EE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0B4D8"/>
                </a:solidFill>
                <a:latin typeface="Calibri"/>
              </a:rPr>
              <a:t>Streaming Method</a:t>
            </a:r>
          </a:p>
          <a:p>
            <a:pPr algn="l"/>
            <a:r>
              <a:rPr sz="1350" b="0">
                <a:solidFill>
                  <a:srgbClr val="C0D8EE"/>
                </a:solidFill>
                <a:latin typeface="Calibri"/>
              </a:rPr>
              <a:t>Runs an MJPEG HTTP server over Wi-Fi. The mobile app connects to the ESP32's IP and displays the stream.</a:t>
            </a:r>
          </a:p>
          <a:p>
            <a:pPr algn="l"/>
            <a:endParaRPr sz="1350" b="0">
              <a:solidFill>
                <a:srgbClr val="C0D8EE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0B4D8"/>
                </a:solidFill>
                <a:latin typeface="Calibri"/>
              </a:rPr>
              <a:t>Why it's useful</a:t>
            </a:r>
          </a:p>
          <a:p>
            <a:pPr algn="l"/>
            <a:r>
              <a:rPr sz="1350" b="0">
                <a:solidFill>
                  <a:srgbClr val="C0D8EE"/>
                </a:solidFill>
                <a:latin typeface="Calibri"/>
              </a:rPr>
              <a:t>Lets the operator see what the robot sees — useful for remote driving in unknown environments.</a:t>
            </a:r>
          </a:p>
          <a:p>
            <a:pPr algn="l"/>
            <a:endParaRPr sz="1350" b="0">
              <a:solidFill>
                <a:srgbClr val="C0D8EE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0B4D8"/>
                </a:solidFill>
                <a:latin typeface="Calibri"/>
              </a:rPr>
              <a:t>Resolution &amp; FPS</a:t>
            </a:r>
          </a:p>
          <a:p>
            <a:pPr algn="l"/>
            <a:r>
              <a:rPr sz="1350" b="0">
                <a:solidFill>
                  <a:srgbClr val="C0D8EE"/>
                </a:solidFill>
                <a:latin typeface="Calibri"/>
              </a:rPr>
              <a:t>Up to 1600×1200 px  |  ~15–25 fps over local Wi-Fi.</a:t>
            </a:r>
          </a:p>
          <a:p>
            <a:pPr algn="l"/>
            <a:endParaRPr sz="1350" b="0">
              <a:solidFill>
                <a:srgbClr val="C0D8EE"/>
              </a:solidFill>
              <a:latin typeface="Calibri"/>
            </a:endParaRPr>
          </a:p>
          <a:p>
            <a:pPr algn="l"/>
            <a:r>
              <a:rPr sz="1350" b="1">
                <a:solidFill>
                  <a:srgbClr val="00B4D8"/>
                </a:solidFill>
                <a:latin typeface="Calibri"/>
              </a:rPr>
              <a:t>Power</a:t>
            </a:r>
          </a:p>
          <a:p>
            <a:pPr algn="l"/>
            <a:r>
              <a:rPr sz="1350" b="0">
                <a:solidFill>
                  <a:srgbClr val="C0D8EE"/>
                </a:solidFill>
                <a:latin typeface="Calibri"/>
              </a:rPr>
              <a:t>Powered from the 5V regulated rail of the motor driver — no separate battery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280160"/>
            <a:ext cx="5029200" cy="5029200"/>
          </a:xfrm>
          <a:prstGeom prst="rect">
            <a:avLst/>
          </a:prstGeom>
          <a:solidFill>
            <a:srgbClr val="05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66560" y="1280160"/>
            <a:ext cx="50292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66560" y="6236208"/>
            <a:ext cx="50292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0" y="1280160"/>
            <a:ext cx="73152" cy="5029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722608" y="1280160"/>
            <a:ext cx="73152" cy="5029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407090"/>
                </a:solidFill>
                <a:latin typeface="Calibri"/>
              </a:rPr>
              <a:t>[ Live Camera View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319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B4D8"/>
                </a:solidFill>
                <a:latin typeface="Calibri"/>
              </a:rPr>
              <a:t>[CAM]  ESP32-CAM  |  MJPEG 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463040"/>
            <a:ext cx="164592" cy="164592"/>
          </a:xfrm>
          <a:prstGeom prst="rect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4264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6060"/>
                </a:solidFill>
                <a:latin typeface="Calibri"/>
              </a:rPr>
              <a:t>* REC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6FA765-5E40-B67A-3236-1CA3046D0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528" y="1353312"/>
            <a:ext cx="4875079" cy="4882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Building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  <a:latin typeface="Calibri"/>
              </a:rPr>
              <a:t>From idea to working robot —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3502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Design &amp;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682496"/>
            <a:ext cx="256032" cy="164592"/>
          </a:xfrm>
          <a:prstGeom prst="rect">
            <a:avLst/>
          </a:prstGeom>
          <a:solidFill>
            <a:srgbClr val="B0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1554480"/>
            <a:ext cx="2560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7090B0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04288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A5E78"/>
                </a:solidFill>
                <a:latin typeface="Calibri"/>
              </a:rPr>
              <a:t>Chose SMARS platform, listed components, drew wiring diagram.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280160"/>
            <a:ext cx="256032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64992" y="133502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7830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3D Printing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5312" y="1682496"/>
            <a:ext cx="256032" cy="164592"/>
          </a:xfrm>
          <a:prstGeom prst="rect">
            <a:avLst/>
          </a:prstGeom>
          <a:solidFill>
            <a:srgbClr val="B0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25312" y="1554480"/>
            <a:ext cx="2560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7090B0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304288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A5E78"/>
                </a:solidFill>
                <a:latin typeface="Calibri"/>
              </a:rPr>
              <a:t>Printed chassis parts in multiple colours using FDM. Track segments, body, mounts.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4" y="1280160"/>
            <a:ext cx="2560320" cy="960120"/>
          </a:xfrm>
          <a:prstGeom prst="rect">
            <a:avLst/>
          </a:prstGeom>
          <a:solidFill>
            <a:srgbClr val="02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2784" y="133502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17830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Assembly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33104" y="1682496"/>
            <a:ext cx="256032" cy="164592"/>
          </a:xfrm>
          <a:prstGeom prst="rect">
            <a:avLst/>
          </a:prstGeom>
          <a:solidFill>
            <a:srgbClr val="B0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33104" y="1554480"/>
            <a:ext cx="2560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7090B0"/>
                </a:solidFill>
                <a:latin typeface="Calibri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304288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A5E78"/>
                </a:solidFill>
                <a:latin typeface="Calibri"/>
              </a:rPr>
              <a:t>Assembled chassis, fitted motors, attached wheels/tracks and sensor bracket.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0576" y="1280160"/>
            <a:ext cx="2560320" cy="9601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0576" y="133502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7830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Electronics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2304288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A5E78"/>
                </a:solidFill>
                <a:latin typeface="Calibri"/>
              </a:rPr>
              <a:t>Wired motor driver, IR sensors, HC-06, ESP32-CAM to Arduino. Soldered connections.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3931920"/>
            <a:ext cx="2560320" cy="960120"/>
          </a:xfrm>
          <a:prstGeom prst="rect">
            <a:avLst/>
          </a:prstGeom>
          <a:solidFill>
            <a:srgbClr val="06B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20240" y="398678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4348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Programming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4334256"/>
            <a:ext cx="256032" cy="164592"/>
          </a:xfrm>
          <a:prstGeom prst="rect">
            <a:avLst/>
          </a:prstGeom>
          <a:solidFill>
            <a:srgbClr val="B0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0" y="4206240"/>
            <a:ext cx="2560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7090B0"/>
                </a:solidFill>
                <a:latin typeface="Calibri"/>
              </a:rP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8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A5E78"/>
                </a:solidFill>
                <a:latin typeface="Calibri"/>
              </a:rPr>
              <a:t>Wrote Arduino sketch: line-follow logic, Bluetooth command parser, motor control.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8032" y="3931920"/>
            <a:ext cx="2560320" cy="960120"/>
          </a:xfrm>
          <a:prstGeom prst="rect">
            <a:avLst/>
          </a:prstGeom>
          <a:solidFill>
            <a:srgbClr val="E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28032" y="398678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44348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 Development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88352" y="4334256"/>
            <a:ext cx="256032" cy="164592"/>
          </a:xfrm>
          <a:prstGeom prst="rect">
            <a:avLst/>
          </a:prstGeom>
          <a:solidFill>
            <a:srgbClr val="B0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88352" y="4206240"/>
            <a:ext cx="2560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7090B0"/>
                </a:solidFill>
                <a:latin typeface="Calibri"/>
              </a:rPr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8032" y="4956048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A5E78"/>
                </a:solidFill>
                <a:latin typeface="Calibri"/>
              </a:rPr>
              <a:t>Built Android app with Bluetooth controls, mode switch, and camera view.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35824" y="3931920"/>
            <a:ext cx="2560320" cy="960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35824" y="398678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5824" y="44348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Testing &amp; Tuning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5824" y="4956048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A5E78"/>
                </a:solidFill>
                <a:latin typeface="Calibri"/>
              </a:rPr>
              <a:t>Tested on black tape track. Tuned sensor sensitivity, speed, and turn sharpness.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786616" y="1682496"/>
            <a:ext cx="274320" cy="164592"/>
          </a:xfrm>
          <a:prstGeom prst="rect">
            <a:avLst/>
          </a:prstGeom>
          <a:solidFill>
            <a:srgbClr val="B0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740896" y="184708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7090B0"/>
                </a:solidFill>
                <a:latin typeface="Calibri"/>
              </a:rPr>
              <a:t>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  <a:latin typeface="Calibri"/>
              </a:rPr>
              <a:t>Problems we faced and how we solved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6459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289304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233A"/>
                </a:solidFill>
                <a:latin typeface="Calibri"/>
              </a:rPr>
              <a:t>! IR Sensor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550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  <a:latin typeface="Calibri"/>
              </a:rPr>
              <a:t>Problem: Sensors gave inconsistent readings on different floor surfaces.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417320"/>
            <a:ext cx="5760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0A6030"/>
                </a:solidFill>
                <a:latin typeface="Calibri"/>
              </a:rPr>
              <a:t>OK  Added adjustable sensitivity potentiometer on each HW-511 module. Fine-tuned threshold for the test track.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164592" cy="1005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386584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233A"/>
                </a:solidFill>
                <a:latin typeface="Calibri"/>
              </a:rPr>
              <a:t>! Wiring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5234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  <a:latin typeface="Calibri"/>
              </a:rPr>
              <a:t>Problem: Too many wires caused shorts and loose connections inside the cramped chassis.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514600"/>
            <a:ext cx="5760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0A6030"/>
                </a:solidFill>
                <a:latin typeface="Calibri"/>
              </a:rPr>
              <a:t>OK  Colour-coded wires, used DuPont connectors, and routed cables along chassis walls.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16459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83864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233A"/>
                </a:solidFill>
                <a:latin typeface="Calibri"/>
              </a:rPr>
              <a:t>! Bluetooth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84962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  <a:latin typeface="Calibri"/>
              </a:rPr>
              <a:t>Problem: Occasional lag in remote control made driving imprecise.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611880"/>
            <a:ext cx="5760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0A6030"/>
                </a:solidFill>
                <a:latin typeface="Calibri"/>
              </a:rPr>
              <a:t>OK  Kept command strings short (1 byte). Improved app's send rate to 100 ms polling.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2628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526280"/>
            <a:ext cx="164592" cy="1005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4581144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233A"/>
                </a:solidFill>
                <a:latin typeface="Calibri"/>
              </a:rPr>
              <a:t>! ESP32-CAM 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9469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  <a:latin typeface="Calibri"/>
              </a:rPr>
              <a:t>Problem: Camera module caused Arduino to reset due to current spike on startup.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709160"/>
            <a:ext cx="5760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0A6030"/>
                </a:solidFill>
                <a:latin typeface="Calibri"/>
              </a:rPr>
              <a:t>OK  Powered ESP32-CAM from dedicated 5V output on motor driver board, separate from Arduino.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62356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5623560"/>
            <a:ext cx="16459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5678424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233A"/>
                </a:solidFill>
                <a:latin typeface="Calibri"/>
              </a:rPr>
              <a:t>! Sharp Turns on 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04418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3030"/>
                </a:solidFill>
                <a:latin typeface="Calibri"/>
              </a:rPr>
              <a:t>Problem: Robot overshot corners at high speed.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5806440"/>
            <a:ext cx="5760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0A6030"/>
                </a:solidFill>
                <a:latin typeface="Calibri"/>
              </a:rPr>
              <a:t>OK  Reduced turn speed via PWM differential and added a small delay at detected curves.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C8E8F5"/>
                </a:solidFill>
                <a:latin typeface="Calibri"/>
              </a:rPr>
              <a:t>What the robot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651760" cy="1828800"/>
          </a:xfrm>
          <a:prstGeom prst="rect">
            <a:avLst/>
          </a:prstGeom>
          <a:solidFill>
            <a:srgbClr val="0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00B4D8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0C8E8"/>
                </a:solidFill>
                <a:latin typeface="Calibri"/>
              </a:rPr>
              <a:t>IR Sensors
for line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34440"/>
            <a:ext cx="2651760" cy="1828800"/>
          </a:xfrm>
          <a:prstGeom prst="rect">
            <a:avLst/>
          </a:prstGeom>
          <a:solidFill>
            <a:srgbClr val="0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2344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3716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00B4D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12848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0C8E8"/>
                </a:solidFill>
                <a:latin typeface="Calibri"/>
              </a:rPr>
              <a:t>Operating
Modes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2651760" cy="1828800"/>
          </a:xfrm>
          <a:prstGeom prst="rect">
            <a:avLst/>
          </a:prstGeom>
          <a:solidFill>
            <a:srgbClr val="0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00B4D8"/>
                </a:solidFill>
                <a:latin typeface="Calibri"/>
              </a:rPr>
              <a:t>~10m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12848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0C8E8"/>
                </a:solidFill>
                <a:latin typeface="Calibri"/>
              </a:rPr>
              <a:t>Bluetooth
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34440"/>
            <a:ext cx="2651760" cy="1828800"/>
          </a:xfrm>
          <a:prstGeom prst="rect">
            <a:avLst/>
          </a:prstGeom>
          <a:solidFill>
            <a:srgbClr val="0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23444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3716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00B4D8"/>
                </a:solidFill>
                <a:latin typeface="Calibri"/>
              </a:rPr>
              <a:t>15–25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12848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0C8E8"/>
                </a:solidFill>
                <a:latin typeface="Calibri"/>
              </a:rPr>
              <a:t>FPS camera
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Achievements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6B64D"/>
                </a:solidFill>
                <a:latin typeface="Calibri"/>
              </a:rPr>
              <a:t>OK  Successfully follows a black line on white surface at various speeds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7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6B64D"/>
                </a:solidFill>
                <a:latin typeface="Calibri"/>
              </a:rPr>
              <a:t>OK  Smooth mode switching between Auto and Manual from the mobile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0015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6B64D"/>
                </a:solidFill>
                <a:latin typeface="Calibri"/>
              </a:rPr>
              <a:t>OK  Real-time Bluetooth response — commands execute within 50–100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75503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6B64D"/>
                </a:solidFill>
                <a:latin typeface="Calibri"/>
              </a:rPr>
              <a:t>OK  ESP32-CAM streams live video without interrupting main robot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50991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6B64D"/>
                </a:solidFill>
                <a:latin typeface="Calibri"/>
              </a:rPr>
              <a:t>OK  Robot recovers from lost line by entering search / slow-spin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26479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6B64D"/>
                </a:solidFill>
                <a:latin typeface="Calibri"/>
              </a:rPr>
              <a:t>OK  Robust 3D-printed chassis — survived multiple drops and track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320040" cy="6217920"/>
          </a:xfrm>
          <a:prstGeom prst="rect">
            <a:avLst/>
          </a:prstGeom>
          <a:solidFill>
            <a:srgbClr val="02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868912" y="320040"/>
            <a:ext cx="320040" cy="6217920"/>
          </a:xfrm>
          <a:prstGeom prst="rect">
            <a:avLst/>
          </a:prstGeom>
          <a:solidFill>
            <a:srgbClr val="02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4183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94183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  <a:latin typeface="Calibri"/>
              </a:rPr>
              <a:t>Questions &amp; 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200400"/>
            <a:ext cx="6675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80B0D0"/>
                </a:solidFill>
                <a:latin typeface="Calibri"/>
              </a:rPr>
              <a:t>Our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977639"/>
            <a:ext cx="3200400" cy="1097280"/>
          </a:xfrm>
          <a:prstGeom prst="rect">
            <a:avLst/>
          </a:prstGeom>
          <a:solidFill>
            <a:srgbClr val="0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3977639"/>
            <a:ext cx="32004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41148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Ahror Nosirov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977639"/>
            <a:ext cx="3200400" cy="1097280"/>
          </a:xfrm>
          <a:prstGeom prst="rect">
            <a:avLst/>
          </a:prstGeom>
          <a:solidFill>
            <a:srgbClr val="0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3977639"/>
            <a:ext cx="32004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41148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Jamshid Vakhobov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977639"/>
            <a:ext cx="3200400" cy="1097280"/>
          </a:xfrm>
          <a:prstGeom prst="rect">
            <a:avLst/>
          </a:prstGeom>
          <a:solidFill>
            <a:srgbClr val="0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3977639"/>
            <a:ext cx="32004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41148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Islomov Jaxongir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080A0"/>
                </a:solidFill>
                <a:latin typeface="Calibri"/>
              </a:rPr>
              <a:t>Line Following Robot Car  -  Arduino SMARS  -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1529</Words>
  <Application>Microsoft Office PowerPoint</Application>
  <PresentationFormat>Custom</PresentationFormat>
  <Paragraphs>245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Jamshid Vakhobov</cp:lastModifiedBy>
  <cp:revision>3</cp:revision>
  <dcterms:created xsi:type="dcterms:W3CDTF">2013-01-27T09:14:16Z</dcterms:created>
  <dcterms:modified xsi:type="dcterms:W3CDTF">2026-05-03T06:30:45Z</dcterms:modified>
  <cp:category/>
</cp:coreProperties>
</file>